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5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建议讲解 25 秒</a:t>
            </a:r>
          </a:p>
          <a:p/>
          <a:p>
            <a:r>
              <a:t>大家好，我这次选择的是数字组新版 A 题，完成了一个单 Query 的 Attention 加速器 IP。它处理八组 Key 和 Value，每个向量四个分量。我的工作重点是把题目里的数学运算落实为明确的定点格式、可综合的 RTL 和可以逐项检查的验证流程。下面先说明算法，再介绍硬件调度，最后展示真实结果和目前的限制。</a:t>
            </a:r>
          </a:p>
          <a:p/>
          <a:p>
            <a:r>
              <a:t>依据：新版A题；设计报告第1页</a:t>
            </a:r>
          </a:p>
          <a:p>
            <a:r>
              <a:t>本页静态展示，直接讲解。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建议讲解 40 秒</a:t>
            </a:r>
          </a:p>
          <a:p/>
          <a:p>
            <a:r>
              <a:t>本题第一步直接计算 Q 和每一组 K 的四项点积，题面没有要求除以根号 d，所以这里没有添加缩放。第二步先找到八个 Score 的最大值，计算减去最大值后的指数。这样指数输入不大于零，也不会改变精确 Softmax 的归一化结果。第三步对每个 Value 分量加权求和，最后再统一除以所有权重之和。也就是说，我没有先计算八次概率除法，而是在末尾完成四次归一化。</a:t>
            </a:r>
          </a:p>
          <a:p/>
          <a:p>
            <a:r>
              <a:t>依据：新版 A 题；docs/design_report.md 第 1 页</a:t>
            </a:r>
          </a:p>
          <a:p>
            <a:r>
              <a:t>点击顺序：点积得分 → 非负权重 → 加权归一化。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建议讲解 55 秒</a:t>
            </a:r>
          </a:p>
          <a:p/>
          <a:p>
            <a:r>
              <a:t>权重的小数部分固定为四位，因此用一个整数保存真实权重乘以十六。因为输入是整数，减去最大值后的差值也是非正整数。按本实现的最近值量化，差值零、负一、负二、负三依次对应十六、六、二、一，差值不大于负四时量化为零。至少有一个最大值对应十六，所以分母不会是零。五位权重才能存下十六。四项点积的最大值是六万五千五百三十六，有符号十七位无法表示，所以 Score 使用十八位。最终分子和分母都带十六倍比例，除法时比例抵消。量化和负半整数舍入口径还需要与主办方核对。</a:t>
            </a:r>
          </a:p>
          <a:p/>
          <a:p>
            <a:r>
              <a:t>依据：exp_lut.v；设计报告第 2 页。指数量化和半整数舍入口径待主办方确认</a:t>
            </a:r>
          </a:p>
          <a:p>
            <a:r>
              <a:t>本页静态展示，直接讲解。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建议讲解 50 秒</a:t>
            </a:r>
          </a:p>
          <a:p/>
          <a:p>
            <a:r>
              <a:t>顶层 attention_ip 负责缓冲和状态控制，另有指数查表和带符号舍入除法两个模块。输入先串行接收四个 Q，再接收三十二对 K 和 V。每拍计算一项点积，得到八个 Score；然后扫描最大值、查表、累加四路 ACC 和共同的 L。这里有三个实现细节：第四项点积保存时要包含本拍乘积；最大值用第一个 Score 初始化，防止全负数出错；一个权重虽然参与四路 Value 乘法，但 L 只累加一次。输出没有反压接口，四个分量连续输出。</a:t>
            </a:r>
          </a:p>
          <a:p/>
          <a:p>
            <a:r>
              <a:t>依据：rtl/attention_ip.v、exp_lut.v、round_div_signed.v；设计报告第 3 页</a:t>
            </a:r>
          </a:p>
          <a:p>
            <a:r>
              <a:t>本页静态展示，直接讲解。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建议讲解 40 秒</a:t>
            </a:r>
          </a:p>
          <a:p/>
          <a:p>
            <a:r>
              <a:t>无输入停顿时，接收 Q 用四拍，接收 K 和 V 用三十二拍。从最后一对 K 和 V 接收之后，到 done 一共八十九拍，所以从接受 start 到 done 的时间差是一个任务一百二十五个时钟周期。图中的各段长度按实际拍数绘制。输出占四拍，done 在最后一个输出的下一拍拉高。输入 valid 低时，装载索引保持不变，停一拍就增加一拍延迟。这里报告的是周期计数，并不意味着电路已经能在一百兆赫下运行。</a:t>
            </a:r>
          </a:p>
          <a:p/>
          <a:p>
            <a:r>
              <a:t>依据：tb_attention_ip.sv；demo_trace.csv；报告第 3 页。周期数不等于已满足 100 MHz</a:t>
            </a:r>
          </a:p>
          <a:p>
            <a:r>
              <a:t>本页静态展示，直接讲解。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建议讲解 45 秒</a:t>
            </a:r>
          </a:p>
          <a:p/>
          <a:p>
            <a:r>
              <a:t>这个样例的 Query 是一、零、零、零，八个 Score 如表所示，最大值为零。查表后的权重是十六、六、二、一、零、十六、六、二，和为四十九。四路加权累加得到一百一十二、一百二十、负二和七十二，再除以四十九并舍入，输出二、二、零、一。下方放大了真实 VCD 第八十五到八十九拍的采样窗口，按原始 CSV 重绘，可以看到四拍输出和下一拍的 done。原始全程波形、周期采样和 VCD 都保留在证据目录。</a:t>
            </a:r>
          </a:p>
          <a:p/>
          <a:p>
            <a:r>
              <a:t>依据：evidence/demo_trace.csv、demo_waveform.png；报告第 4 页。输出窗口按真实 VCD 的 CSV 采样重绘</a:t>
            </a:r>
          </a:p>
          <a:p>
            <a:r>
              <a:t>本页静态展示，直接讲解。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94944" y="1042415"/>
            <a:ext cx="6583680" cy="8604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Attention
加速器 IP</a:t>
            </a:r>
            <a:endParaRPr sz="48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10424160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7E80"/>
                </a:solidFill>
                <a:latin typeface="微软雅黑" panose="020B0503020204020204" charset="-122"/>
                <a:ea typeface="微软雅黑" panose="020B0503020204020204" charset="-122"/>
              </a:rPr>
              <a:t>算法 → 定点 RTL → 可复现验证</a:t>
            </a:r>
            <a:endParaRPr sz="2000" b="0" i="0">
              <a:solidFill>
                <a:srgbClr val="007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 descr="05eaca9b856523d8501ddff1022e3ff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265" y="114300"/>
            <a:ext cx="3467735" cy="5548630"/>
          </a:xfrm>
          <a:prstGeom prst="rect">
            <a:avLst/>
          </a:prstGeom>
        </p:spPr>
      </p:pic>
      <p:pic>
        <p:nvPicPr>
          <p:cNvPr id="20" name="图片 19" descr="24e1807cc0eeb3444045df621722b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0"/>
            <a:ext cx="3467735" cy="5548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94360" y="384048"/>
            <a:ext cx="11000232" cy="587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按题面：点积、减最大值、末尾归一化</a:t>
            </a:r>
            <a:endParaRPr sz="32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33856"/>
            <a:ext cx="11000232" cy="10972"/>
          </a:xfrm>
          <a:prstGeom prst="rect">
            <a:avLst/>
          </a:prstGeom>
          <a:solidFill>
            <a:srgbClr val="8095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0232" y="6428232"/>
            <a:ext cx="5943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53896"/>
            <a:ext cx="10972800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Q：4 个分量     K / V：8 × 4 个分量     O：4 个分量</a:t>
            </a:r>
            <a:endParaRPr sz="20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" y="2130552"/>
            <a:ext cx="685800" cy="4963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80"/>
                </a:solidFill>
                <a:latin typeface="Consolas" panose="020B0609020204030204"/>
                <a:ea typeface="微软雅黑" panose="020B0503020204020204" charset="-122"/>
              </a:rPr>
              <a:t>01</a:t>
            </a:r>
            <a:endParaRPr sz="3200" b="1" i="0">
              <a:solidFill>
                <a:srgbClr val="007E80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8760" y="2130552"/>
            <a:ext cx="2103120" cy="45079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点积得分</a:t>
            </a:r>
            <a:endParaRPr sz="24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21608" y="2130552"/>
            <a:ext cx="7836408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82D35"/>
                </a:solidFill>
                <a:latin typeface="Consolas" panose="020B0609020204030204"/>
                <a:ea typeface="微软雅黑" panose="020B0503020204020204" charset="-122"/>
              </a:rPr>
              <a:t>Score[j] = Σ Q[k] × K[j][k]</a:t>
            </a:r>
            <a:endParaRPr sz="2400" b="0" i="0">
              <a:solidFill>
                <a:srgbClr val="182D3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39896" y="2660904"/>
            <a:ext cx="7772400" cy="3483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题面使用直接点积，未要求除以 √d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" y="3401568"/>
            <a:ext cx="685800" cy="4963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80"/>
                </a:solidFill>
                <a:latin typeface="Consolas" panose="020B0609020204030204"/>
                <a:ea typeface="微软雅黑" panose="020B0503020204020204" charset="-122"/>
              </a:rPr>
              <a:t>02</a:t>
            </a:r>
            <a:endParaRPr sz="3200" b="1" i="0">
              <a:solidFill>
                <a:srgbClr val="007E80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2103120" cy="45079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非负权重</a:t>
            </a:r>
            <a:endParaRPr sz="24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21608" y="3401568"/>
            <a:ext cx="7836408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82D35"/>
                </a:solidFill>
                <a:latin typeface="Consolas" panose="020B0609020204030204"/>
                <a:ea typeface="微软雅黑" panose="020B0503020204020204" charset="-122"/>
              </a:rPr>
              <a:t>W[j] ≈ exp(Score[j] − max(Score))</a:t>
            </a:r>
            <a:endParaRPr sz="2400" b="0" i="0">
              <a:solidFill>
                <a:srgbClr val="182D3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39896" y="3931920"/>
            <a:ext cx="7772400" cy="3483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先减最大值，再用四位小数定点查表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" y="4663440"/>
            <a:ext cx="685800" cy="4963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80"/>
                </a:solidFill>
                <a:latin typeface="Consolas" panose="020B0609020204030204"/>
                <a:ea typeface="微软雅黑" panose="020B0503020204020204" charset="-122"/>
              </a:rPr>
              <a:t>03</a:t>
            </a:r>
            <a:endParaRPr sz="3200" b="1" i="0">
              <a:solidFill>
                <a:srgbClr val="007E80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4663440"/>
            <a:ext cx="2103120" cy="45079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加权归一化</a:t>
            </a:r>
            <a:endParaRPr sz="24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21608" y="4663440"/>
            <a:ext cx="7836408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82D35"/>
                </a:solidFill>
                <a:latin typeface="Consolas" panose="020B0609020204030204"/>
                <a:ea typeface="微软雅黑" panose="020B0503020204020204" charset="-122"/>
              </a:rPr>
              <a:t>O[c] = round(Σ W[j] × V[j][c] / Σ W[j])</a:t>
            </a:r>
            <a:endParaRPr sz="2400" b="0" i="0">
              <a:solidFill>
                <a:srgbClr val="182D3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9896" y="5193792"/>
            <a:ext cx="7772400" cy="3483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统一在末尾除以 L，不预先做八次概率除法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789940" y="384048"/>
            <a:ext cx="11000232" cy="6019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指数表分为五种情况保存</a:t>
            </a:r>
            <a:endParaRPr lang="zh-CN" sz="32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33856"/>
            <a:ext cx="11000232" cy="10972"/>
          </a:xfrm>
          <a:prstGeom prst="rect">
            <a:avLst/>
          </a:prstGeom>
          <a:solidFill>
            <a:srgbClr val="8095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0232" y="6428232"/>
            <a:ext cx="5943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435608"/>
            <a:ext cx="10881360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E80"/>
                </a:solidFill>
                <a:latin typeface="Consolas" panose="020B0609020204030204"/>
                <a:ea typeface="微软雅黑" panose="020B0503020204020204" charset="-122"/>
              </a:rPr>
              <a:t>W_raw = floor(exp(delta) × 16 + 0.5)</a:t>
            </a:r>
            <a:endParaRPr sz="2400" b="1" i="0">
              <a:solidFill>
                <a:srgbClr val="007E80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graphicFrame>
        <p:nvGraphicFramePr>
          <p:cNvPr id="7" name="Table 6" descr="数据通路连接或表格；含义见相邻文字" title="数据通路连接或表格；含义见相邻文字"/>
          <p:cNvGraphicFramePr>
            <a:graphicFrameLocks noGrp="1"/>
          </p:cNvGraphicFramePr>
          <p:nvPr/>
        </p:nvGraphicFramePr>
        <p:xfrm>
          <a:off x="658368" y="2212848"/>
          <a:ext cx="553212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5920"/>
                <a:gridCol w="1645920"/>
                <a:gridCol w="2240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delta</a:t>
                      </a:r>
                      <a:endParaRPr sz="21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W_raw</a:t>
                      </a:r>
                      <a:endParaRPr sz="21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真实权重</a:t>
                      </a:r>
                      <a:endParaRPr sz="21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7E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sz="2100" b="1" i="0">
                        <a:solidFill>
                          <a:srgbClr val="007E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7E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sz="2100" b="1" i="0">
                        <a:solidFill>
                          <a:srgbClr val="007E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7E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2100" b="1" i="0">
                        <a:solidFill>
                          <a:srgbClr val="007E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solidFill>
                      <a:srgbClr val="EA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0.375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−2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0.125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−3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0.0625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−4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sz="21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95160" y="2194560"/>
            <a:ext cx="3931920" cy="4963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80"/>
                </a:solidFill>
                <a:latin typeface="Consolas" panose="020B0609020204030204"/>
                <a:ea typeface="微软雅黑" panose="020B0503020204020204" charset="-122"/>
              </a:rPr>
              <a:t>18 bit</a:t>
            </a:r>
            <a:endParaRPr sz="3200" b="1" i="0">
              <a:solidFill>
                <a:srgbClr val="007E80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95160" y="2971800"/>
            <a:ext cx="4133087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Score 的正端点是 65536
有符号 17 位放不下</a:t>
            </a:r>
            <a:endParaRPr sz="2000" b="0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95160" y="4005072"/>
            <a:ext cx="4133087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W 5 位 · L 8 位 · ACC 15 位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95160" y="4544568"/>
            <a:ext cx="4133087" cy="655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最大分数对应 W_raw=16
所以 16 ≤ L_raw ≤ 128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5797296"/>
            <a:ext cx="10881360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E80"/>
                </a:solidFill>
                <a:latin typeface="微软雅黑" panose="020B0503020204020204" charset="-122"/>
                <a:ea typeface="微软雅黑" panose="020B0503020204020204" charset="-122"/>
              </a:rPr>
              <a:t>ACC_raw / L_raw：十六倍比例抵消，不再除以 16</a:t>
            </a:r>
            <a:endParaRPr sz="2000" b="1" i="0">
              <a:solidFill>
                <a:srgbClr val="007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94360" y="384048"/>
            <a:ext cx="11000232" cy="587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三个 RTL 模块串行完成 Attention</a:t>
            </a:r>
            <a:endParaRPr sz="32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33856"/>
            <a:ext cx="11000232" cy="10972"/>
          </a:xfrm>
          <a:prstGeom prst="rect">
            <a:avLst/>
          </a:prstGeom>
          <a:solidFill>
            <a:srgbClr val="8095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0232" y="6428232"/>
            <a:ext cx="5943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2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972800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attention_ip：缓冲、计数器、状态机与逐拍调度</a:t>
            </a:r>
            <a:endParaRPr sz="20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 descr="数据通路连接或表格；含义见相邻文字" title="数据通路连接或表格；含义见相邻文字"/>
          <p:cNvCxnSpPr/>
          <p:nvPr/>
        </p:nvCxnSpPr>
        <p:spPr>
          <a:xfrm>
            <a:off x="2852928" y="2761488"/>
            <a:ext cx="484632" cy="0"/>
          </a:xfrm>
          <a:prstGeom prst="line">
            <a:avLst/>
          </a:prstGeom>
          <a:ln w="22860">
            <a:solidFill>
              <a:srgbClr val="007E80"/>
            </a:solidFill>
            <a:tailEnd type="triangle" w="med" len="med"/>
          </a:ln>
          <a:effectLst/>
        </p:spPr>
      </p:cxnSp>
      <p:cxnSp>
        <p:nvCxnSpPr>
          <p:cNvPr id="8" name="Connector 7" descr="数据通路连接或表格；含义见相邻文字" title="数据通路连接或表格；含义见相邻文字"/>
          <p:cNvCxnSpPr/>
          <p:nvPr/>
        </p:nvCxnSpPr>
        <p:spPr>
          <a:xfrm>
            <a:off x="5623560" y="2761488"/>
            <a:ext cx="484632" cy="0"/>
          </a:xfrm>
          <a:prstGeom prst="line">
            <a:avLst/>
          </a:prstGeom>
          <a:ln w="22860">
            <a:solidFill>
              <a:srgbClr val="007E80"/>
            </a:solidFill>
            <a:tailEnd type="triangle" w="med" len="med"/>
          </a:ln>
          <a:effectLst/>
        </p:spPr>
      </p:cxnSp>
      <p:cxnSp>
        <p:nvCxnSpPr>
          <p:cNvPr id="9" name="Connector 8" descr="数据通路连接或表格；含义见相邻文字" title="数据通路连接或表格；含义见相邻文字"/>
          <p:cNvCxnSpPr/>
          <p:nvPr/>
        </p:nvCxnSpPr>
        <p:spPr>
          <a:xfrm>
            <a:off x="8348471" y="2761488"/>
            <a:ext cx="484633" cy="0"/>
          </a:xfrm>
          <a:prstGeom prst="line">
            <a:avLst/>
          </a:prstGeom>
          <a:ln w="22860">
            <a:solidFill>
              <a:srgbClr val="007E80"/>
            </a:solidFill>
            <a:tailEnd type="triangle" w="med" len="med"/>
          </a:ln>
          <a:effectLst/>
        </p:spPr>
      </p:cxnSp>
      <p:cxnSp>
        <p:nvCxnSpPr>
          <p:cNvPr id="10" name="Connector 9" descr="数据通路连接或表格；含义见相邻文字" title="数据通路连接或表格；含义见相邻文字"/>
          <p:cNvCxnSpPr/>
          <p:nvPr/>
        </p:nvCxnSpPr>
        <p:spPr>
          <a:xfrm>
            <a:off x="2852928" y="4325112"/>
            <a:ext cx="484632" cy="0"/>
          </a:xfrm>
          <a:prstGeom prst="line">
            <a:avLst/>
          </a:prstGeom>
          <a:ln w="22860">
            <a:solidFill>
              <a:srgbClr val="007E80"/>
            </a:solidFill>
            <a:tailEnd type="triangle" w="med" len="med"/>
          </a:ln>
          <a:effectLst/>
        </p:spPr>
      </p:cxnSp>
      <p:cxnSp>
        <p:nvCxnSpPr>
          <p:cNvPr id="11" name="Connector 10" descr="数据通路连接或表格；含义见相邻文字" title="数据通路连接或表格；含义见相邻文字"/>
          <p:cNvCxnSpPr/>
          <p:nvPr/>
        </p:nvCxnSpPr>
        <p:spPr>
          <a:xfrm>
            <a:off x="5623560" y="4325112"/>
            <a:ext cx="484632" cy="0"/>
          </a:xfrm>
          <a:prstGeom prst="line">
            <a:avLst/>
          </a:prstGeom>
          <a:ln w="22860">
            <a:solidFill>
              <a:srgbClr val="007E80"/>
            </a:solidFill>
            <a:tailEnd type="triangle" w="med" len="med"/>
          </a:ln>
          <a:effectLst/>
        </p:spPr>
      </p:cxnSp>
      <p:cxnSp>
        <p:nvCxnSpPr>
          <p:cNvPr id="12" name="Connector 11" descr="数据通路连接或表格；含义见相邻文字" title="数据通路连接或表格；含义见相邻文字"/>
          <p:cNvCxnSpPr/>
          <p:nvPr/>
        </p:nvCxnSpPr>
        <p:spPr>
          <a:xfrm>
            <a:off x="8348471" y="4325112"/>
            <a:ext cx="484633" cy="0"/>
          </a:xfrm>
          <a:prstGeom prst="line">
            <a:avLst/>
          </a:prstGeom>
          <a:ln w="22860">
            <a:solidFill>
              <a:srgbClr val="007E80"/>
            </a:solidFill>
            <a:tailEnd type="triangle" w="med" len="med"/>
          </a:ln>
          <a:effectLst/>
        </p:spPr>
      </p:cxnSp>
      <p:cxnSp>
        <p:nvCxnSpPr>
          <p:cNvPr id="13" name="Connector 12" descr="数据通路连接或表格；含义见相邻文字" title="数据通路连接或表格；含义见相邻文字"/>
          <p:cNvCxnSpPr/>
          <p:nvPr/>
        </p:nvCxnSpPr>
        <p:spPr>
          <a:xfrm>
            <a:off x="10186416" y="3300984"/>
            <a:ext cx="0" cy="246888"/>
          </a:xfrm>
          <a:prstGeom prst="line">
            <a:avLst/>
          </a:prstGeom>
          <a:ln w="19050">
            <a:solidFill>
              <a:srgbClr val="007E80"/>
            </a:solidFill>
          </a:ln>
          <a:effectLst/>
        </p:spPr>
      </p:cxnSp>
      <p:cxnSp>
        <p:nvCxnSpPr>
          <p:cNvPr id="14" name="Connector 13" descr="数据通路连接或表格；含义见相邻文字" title="数据通路连接或表格；含义见相邻文字"/>
          <p:cNvCxnSpPr/>
          <p:nvPr/>
        </p:nvCxnSpPr>
        <p:spPr>
          <a:xfrm flipH="1">
            <a:off x="1755648" y="3547872"/>
            <a:ext cx="8430768" cy="0"/>
          </a:xfrm>
          <a:prstGeom prst="line">
            <a:avLst/>
          </a:prstGeom>
          <a:ln w="19050">
            <a:solidFill>
              <a:srgbClr val="007E80"/>
            </a:solidFill>
          </a:ln>
          <a:effectLst/>
        </p:spPr>
      </p:cxnSp>
      <p:cxnSp>
        <p:nvCxnSpPr>
          <p:cNvPr id="15" name="Connector 14" descr="数据通路连接或表格；含义见相邻文字" title="数据通路连接或表格；含义见相邻文字"/>
          <p:cNvCxnSpPr/>
          <p:nvPr/>
        </p:nvCxnSpPr>
        <p:spPr>
          <a:xfrm>
            <a:off x="1755648" y="3547872"/>
            <a:ext cx="0" cy="237743"/>
          </a:xfrm>
          <a:prstGeom prst="line">
            <a:avLst/>
          </a:prstGeom>
          <a:ln w="19050">
            <a:solidFill>
              <a:srgbClr val="007E80"/>
            </a:solidFill>
            <a:tailEnd type="triangle" w="med" len="med"/>
          </a:ln>
          <a:effectLst/>
        </p:spPr>
      </p:cxnSp>
      <p:sp>
        <p:nvSpPr>
          <p:cNvPr id="16" name="Rectangle 15" descr="Q / K / V；输入缓存" title="Q / K / V；输入缓存"/>
          <p:cNvSpPr/>
          <p:nvPr/>
        </p:nvSpPr>
        <p:spPr>
          <a:xfrm>
            <a:off x="658368" y="2221992"/>
            <a:ext cx="219456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 descr="Q / K / V；输入缓存" title="Q / K / V；输入缓存"/>
          <p:cNvSpPr txBox="1"/>
          <p:nvPr/>
        </p:nvSpPr>
        <p:spPr>
          <a:xfrm>
            <a:off x="713232" y="2221992"/>
            <a:ext cx="2084831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Q / K / V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输入缓存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 descr="Q × K；四项点积" title="Q × K；四项点积"/>
          <p:cNvSpPr/>
          <p:nvPr/>
        </p:nvSpPr>
        <p:spPr>
          <a:xfrm>
            <a:off x="3337560" y="2221992"/>
            <a:ext cx="228600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 descr="Q × K；四项点积" title="Q × K；四项点积"/>
          <p:cNvSpPr txBox="1"/>
          <p:nvPr/>
        </p:nvSpPr>
        <p:spPr>
          <a:xfrm>
            <a:off x="3392424" y="2221992"/>
            <a:ext cx="2176272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Q × K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四项点积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 descr="Score；8 × 18 位" title="Score；8 × 18 位"/>
          <p:cNvSpPr/>
          <p:nvPr/>
        </p:nvSpPr>
        <p:spPr>
          <a:xfrm>
            <a:off x="6108192" y="2221992"/>
            <a:ext cx="224028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 descr="Score；8 × 18 位" title="Score；8 × 18 位"/>
          <p:cNvSpPr txBox="1"/>
          <p:nvPr/>
        </p:nvSpPr>
        <p:spPr>
          <a:xfrm>
            <a:off x="6163055" y="2221992"/>
            <a:ext cx="2130552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Score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8 × 18 位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 descr="max(Score)；扫描八项" title="max(Score)；扫描八项"/>
          <p:cNvSpPr/>
          <p:nvPr/>
        </p:nvSpPr>
        <p:spPr>
          <a:xfrm>
            <a:off x="8833104" y="2221992"/>
            <a:ext cx="269748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 descr="max(Score)；扫描八项" title="max(Score)；扫描八项"/>
          <p:cNvSpPr txBox="1"/>
          <p:nvPr/>
        </p:nvSpPr>
        <p:spPr>
          <a:xfrm>
            <a:off x="8887968" y="2221992"/>
            <a:ext cx="2587752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max(Score)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扫描八项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 descr="exp_lut；减最大值后查表" title="exp_lut；减最大值后查表"/>
          <p:cNvSpPr/>
          <p:nvPr/>
        </p:nvSpPr>
        <p:spPr>
          <a:xfrm>
            <a:off x="658368" y="3785615"/>
            <a:ext cx="219456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 descr="exp_lut；减最大值后查表" title="exp_lut；减最大值后查表"/>
          <p:cNvSpPr txBox="1"/>
          <p:nvPr/>
        </p:nvSpPr>
        <p:spPr>
          <a:xfrm>
            <a:off x="713232" y="3785615"/>
            <a:ext cx="2084831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exp_lut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减最大值后查表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 descr="W × V；L + 四路 ACC" title="W × V；L + 四路 ACC"/>
          <p:cNvSpPr/>
          <p:nvPr/>
        </p:nvSpPr>
        <p:spPr>
          <a:xfrm>
            <a:off x="3337560" y="3785615"/>
            <a:ext cx="228600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 descr="W × V；L + 四路 ACC" title="W × V；L + 四路 ACC"/>
          <p:cNvSpPr txBox="1"/>
          <p:nvPr/>
        </p:nvSpPr>
        <p:spPr>
          <a:xfrm>
            <a:off x="3392424" y="3785615"/>
            <a:ext cx="2176272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W × V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L + 四路 ACC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 descr="round_div；四次归一化" title="round_div；四次归一化"/>
          <p:cNvSpPr/>
          <p:nvPr/>
        </p:nvSpPr>
        <p:spPr>
          <a:xfrm>
            <a:off x="6108192" y="3785615"/>
            <a:ext cx="2240280" cy="1078992"/>
          </a:xfrm>
          <a:prstGeom prst="rect">
            <a:avLst/>
          </a:prstGeom>
          <a:solidFill>
            <a:srgbClr val="EAF5F4"/>
          </a:solidFill>
          <a:ln w="17780">
            <a:solidFill>
              <a:srgbClr val="007E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 descr="round_div；四次归一化" title="round_div；四次归一化"/>
          <p:cNvSpPr txBox="1"/>
          <p:nvPr/>
        </p:nvSpPr>
        <p:spPr>
          <a:xfrm>
            <a:off x="6163055" y="3785615"/>
            <a:ext cx="2130552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round_div</a:t>
            </a:r>
            <a:endParaRPr sz="20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四次归一化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 descr="O[0..3]；连续四拍输出" title="O[0..3]；连续四拍输出"/>
          <p:cNvSpPr/>
          <p:nvPr/>
        </p:nvSpPr>
        <p:spPr>
          <a:xfrm>
            <a:off x="8833104" y="3785615"/>
            <a:ext cx="2697480" cy="1078992"/>
          </a:xfrm>
          <a:prstGeom prst="rect">
            <a:avLst/>
          </a:prstGeom>
          <a:solidFill>
            <a:srgbClr val="007E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 descr="O[0..3]；连续四拍输出" title="O[0..3]；连续四拍输出"/>
          <p:cNvSpPr txBox="1"/>
          <p:nvPr/>
        </p:nvSpPr>
        <p:spPr>
          <a:xfrm>
            <a:off x="8887968" y="3785615"/>
            <a:ext cx="2587752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O[0..3]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连续四拍输出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" y="5257800"/>
            <a:ext cx="10972800" cy="325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2D35"/>
                </a:solidFill>
                <a:latin typeface="Consolas" panose="020B0609020204030204"/>
                <a:ea typeface="微软雅黑" panose="020B0503020204020204" charset="-122"/>
              </a:rPr>
              <a:t>DOT → MAX → EXP → UPDATE → NORM → OUTPUT → FINISH</a:t>
            </a:r>
            <a:endParaRPr sz="2000" b="0" i="0">
              <a:solidFill>
                <a:srgbClr val="182D3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5843016"/>
            <a:ext cx="10972800" cy="3483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最后乘积计入 · 首项初始化最大值 · L 每组只加一次</a:t>
            </a:r>
            <a:endParaRPr sz="18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94360" y="384048"/>
            <a:ext cx="11000232" cy="587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无停顿时，start 到 done 为 125 拍</a:t>
            </a:r>
            <a:endParaRPr sz="32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33856"/>
            <a:ext cx="11000232" cy="10972"/>
          </a:xfrm>
          <a:prstGeom prst="rect">
            <a:avLst/>
          </a:prstGeom>
          <a:solidFill>
            <a:srgbClr val="8095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0232" y="6428232"/>
            <a:ext cx="5943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614" y="1255141"/>
            <a:ext cx="6766560" cy="45079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时钟周期 / 任务</a:t>
            </a:r>
            <a:endParaRPr sz="24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14" y="1831213"/>
            <a:ext cx="7680960" cy="3825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4 拍装载 Q + 32 拍装载 K/V + 89 拍计算与输出</a:t>
            </a:r>
            <a:endParaRPr sz="20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Table 19" descr="数据通路连接或表格；含义见相邻文字" title="数据通路连接或表格；含义见相邻文字"/>
          <p:cNvGraphicFramePr>
            <a:graphicFrameLocks noGrp="1"/>
          </p:cNvGraphicFramePr>
          <p:nvPr/>
        </p:nvGraphicFramePr>
        <p:xfrm>
          <a:off x="493903" y="2338705"/>
          <a:ext cx="10863069" cy="8778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33759"/>
                <a:gridCol w="1439584"/>
                <a:gridCol w="1206657"/>
                <a:gridCol w="2149742"/>
                <a:gridCol w="1824064"/>
                <a:gridCol w="1334726"/>
                <a:gridCol w="1474537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DOT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MAX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UPDATE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NORM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OUT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done</a:t>
                      </a:r>
                      <a:endParaRPr sz="1800" b="1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82D35"/>
                      </a:solidFill>
                    </a:lnT>
                    <a:lnB w="10160" cap="flat" cmpd="sng" algn="ctr">
                      <a:solidFill>
                        <a:srgbClr val="80959E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82D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拍</a:t>
                      </a:r>
                      <a:endParaRPr sz="1800" b="0" i="0">
                        <a:solidFill>
                          <a:srgbClr val="182D3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82D3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4233" y="4768088"/>
            <a:ext cx="10881360" cy="3949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56E"/>
                </a:solidFill>
                <a:latin typeface="微软雅黑" panose="020B0503020204020204" charset="-122"/>
                <a:ea typeface="微软雅黑" panose="020B0503020204020204" charset="-122"/>
              </a:rPr>
              <a:t>输入每停一拍，延迟增加一拍</a:t>
            </a:r>
            <a:endParaRPr sz="2000" b="0" i="0">
              <a:solidFill>
                <a:srgbClr val="5265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94360" y="384048"/>
            <a:ext cx="11000232" cy="587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82D35"/>
                </a:solidFill>
                <a:latin typeface="微软雅黑" panose="020B0503020204020204" charset="-122"/>
                <a:ea typeface="微软雅黑" panose="020B0503020204020204" charset="-122"/>
              </a:rPr>
              <a:t>样例：中间值与实际波形逐项对应</a:t>
            </a:r>
            <a:endParaRPr sz="3200" b="1" i="0">
              <a:solidFill>
                <a:srgbClr val="182D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08710"/>
            <a:ext cx="8509635" cy="531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635" y="290195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进阶任务见另外的文档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WPS 演示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加速器 IP · 数字组招新答辩</dc:title>
  <dc:creator>wjfhhhh</dc:creator>
  <dc:description>generated using python-pptx</dc:description>
  <dc:subject>新版A题：实现、验证与限制</dc:subject>
  <cp:lastModifiedBy>思维总是逆空</cp:lastModifiedBy>
  <cp:revision>3</cp:revision>
  <dcterms:created xsi:type="dcterms:W3CDTF">2013-01-27T09:14:00Z</dcterms:created>
  <dcterms:modified xsi:type="dcterms:W3CDTF">2026-10-12T07:37:19Z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4E2E274C0BA94A679896A18D4884ECBE_12</vt:lpwstr>
  </property>
</Properties>
</file>